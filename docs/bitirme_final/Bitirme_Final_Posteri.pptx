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2138781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2240280"/>
          </a:xfrm>
          <a:prstGeom prst="rect">
            <a:avLst/>
          </a:prstGeom>
          <a:solidFill>
            <a:srgbClr val="1E503F"/>
          </a:solidFill>
          <a:ln>
            <a:solidFill>
              <a:srgbClr val="1E5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9659600" cy="6858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EvcilHayvan Platformu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024128"/>
            <a:ext cx="2148840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000" b="0">
                <a:solidFill>
                  <a:srgbClr val="E1F0E8"/>
                </a:solidFill>
                <a:latin typeface="Arial"/>
              </a:rPr>
              <a:t>Bitirme Projesi Final Raporu ve Akademik Poster Ozeti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128480" y="475488"/>
            <a:ext cx="7132320" cy="9144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Ogrenci: [AD SOYAD]
Danisman: [DANISMAN ADI]
Tarih: [TARIH]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704088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926079"/>
            <a:ext cx="6711696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215D48"/>
                </a:solidFill>
                <a:latin typeface="Arial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319272"/>
            <a:ext cx="6711696" cy="29718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32C28"/>
                </a:solidFill>
                <a:latin typeface="Arial"/>
              </a:rPr>
              <a:t>Evcil hayvan sahipleri veteriner, bakici, magaza, kayip ilanlari, sosyal etkilesim ve saglik takibi icin farkli uygulamalara dagilmaktadir. Bu daginik yapi veri tekrarina, takip zorluguna ve guven sorununa neden olur.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6812280"/>
            <a:ext cx="704088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6949440"/>
            <a:ext cx="6711696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215D48"/>
                </a:solidFill>
                <a:latin typeface="Arial"/>
              </a:rPr>
              <a:t>Cozum Yaklasimi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7342631"/>
            <a:ext cx="6711696" cy="329183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32C28"/>
                </a:solidFill>
                <a:latin typeface="Arial"/>
              </a:rPr>
              <a:t>Proje; mobil uygulama, REST API, gercek zamanli socket katmani, MongoDB veritabani, admin paneli ve satici panelini tek platformda birlestiren entegre bir ekosistem olarak tasarlanmistir.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1201400"/>
            <a:ext cx="70408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1338560"/>
            <a:ext cx="6711696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215D48"/>
                </a:solidFill>
                <a:latin typeface="Arial"/>
              </a:rPr>
              <a:t>Teknoloji Yigini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1731752"/>
            <a:ext cx="6711696" cy="32461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32C28"/>
                </a:solidFill>
                <a:latin typeface="Arial"/>
              </a:rPr>
              <a:t>Mobil: Flutter
Backend: Node.js / Express
Veritabani: MongoDB
Real-time: Socket.IO
Bildirim: Firebase
Harita: Google Maps / Places
Paneller: React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2788920"/>
            <a:ext cx="13395960" cy="2011680"/>
          </a:xfrm>
          <a:prstGeom prst="roundRect">
            <a:avLst/>
          </a:prstGeom>
          <a:solidFill>
            <a:srgbClr val="FFFCF6"/>
          </a:solidFill>
          <a:ln w="1524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2926079"/>
            <a:ext cx="13066776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795120"/>
                </a:solidFill>
                <a:latin typeface="Arial"/>
              </a:rPr>
              <a:t>Sistem Mimarisi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319272"/>
            <a:ext cx="13066776" cy="1325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32C28"/>
                </a:solidFill>
                <a:latin typeface="Arial"/>
              </a:rPr>
              <a:t>Flutter mobil istemci ve web panelleri, Express REST API uzerinden servis katmanina baglanir. MongoDB kalici veri, Socket.IO anlik konum/mesaj/bildirim akislarini, Firebase ise push bildirimlerini destekler.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230368"/>
            <a:ext cx="129844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2400" b="1">
                <a:solidFill>
                  <a:srgbClr val="1E503F"/>
                </a:solidFill>
                <a:latin typeface="Arial"/>
              </a:rPr>
              <a:t>Ana Moduller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5897880"/>
            <a:ext cx="3794760" cy="1417320"/>
          </a:xfrm>
          <a:prstGeom prst="roundRect">
            <a:avLst/>
          </a:prstGeom>
          <a:solidFill>
            <a:srgbClr val="DBEB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A23"/>
                </a:solidFill>
                <a:latin typeface="Arial"/>
              </a:rPr>
              <a:t>Pet Profili
</a:t>
            </a:r>
            <a:r>
              <a:rPr sz="1100">
                <a:solidFill>
                  <a:srgbClr val="2D3732"/>
                </a:solidFill>
                <a:latin typeface="Arial"/>
              </a:rPr>
              <a:t>Kimlik, tur, saglik, ilan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93040" y="5897880"/>
            <a:ext cx="3794760" cy="1417320"/>
          </a:xfrm>
          <a:prstGeom prst="roundRect">
            <a:avLst/>
          </a:prstGeom>
          <a:solidFill>
            <a:srgbClr val="E8F1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A23"/>
                </a:solidFill>
                <a:latin typeface="Arial"/>
              </a:rPr>
              <a:t>Veteriner
</a:t>
            </a:r>
            <a:r>
              <a:rPr sz="1100">
                <a:solidFill>
                  <a:srgbClr val="2D3732"/>
                </a:solidFill>
                <a:latin typeface="Arial"/>
              </a:rPr>
              <a:t>Arama, filtre, randevu, 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145000" y="5897880"/>
            <a:ext cx="3794760" cy="1417320"/>
          </a:xfrm>
          <a:prstGeom prst="roundRect">
            <a:avLst/>
          </a:prstGeom>
          <a:solidFill>
            <a:srgbClr val="FFEF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A23"/>
                </a:solidFill>
                <a:latin typeface="Arial"/>
              </a:rPr>
              <a:t>Bakici
</a:t>
            </a:r>
            <a:r>
              <a:rPr sz="1100">
                <a:solidFill>
                  <a:srgbClr val="2D3732"/>
                </a:solidFill>
                <a:latin typeface="Arial"/>
              </a:rPr>
              <a:t>Rezervasyon, konum, rapor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7772400"/>
            <a:ext cx="3794760" cy="1417320"/>
          </a:xfrm>
          <a:prstGeom prst="roundRect">
            <a:avLst/>
          </a:prstGeom>
          <a:solidFill>
            <a:srgbClr val="EBE5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A23"/>
                </a:solidFill>
                <a:latin typeface="Arial"/>
              </a:rPr>
              <a:t>Magaza
</a:t>
            </a:r>
            <a:r>
              <a:rPr sz="1100">
                <a:solidFill>
                  <a:srgbClr val="2D3732"/>
                </a:solidFill>
                <a:latin typeface="Arial"/>
              </a:rPr>
              <a:t>Urun, sepet, siparis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93040" y="7772400"/>
            <a:ext cx="3794760" cy="1417320"/>
          </a:xfrm>
          <a:prstGeom prst="roundRect">
            <a:avLst/>
          </a:prstGeom>
          <a:solidFill>
            <a:srgbClr val="E8F4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A23"/>
                </a:solidFill>
                <a:latin typeface="Arial"/>
              </a:rPr>
              <a:t>Mesaj
</a:t>
            </a:r>
            <a:r>
              <a:rPr sz="1100">
                <a:solidFill>
                  <a:srgbClr val="2D3732"/>
                </a:solidFill>
                <a:latin typeface="Arial"/>
              </a:rPr>
              <a:t>Sohbet ve bildirim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145000" y="7772400"/>
            <a:ext cx="3794760" cy="1417320"/>
          </a:xfrm>
          <a:prstGeom prst="roundRect">
            <a:avLst/>
          </a:prstGeom>
          <a:solidFill>
            <a:srgbClr val="F6EBE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A23"/>
                </a:solidFill>
                <a:latin typeface="Arial"/>
              </a:rPr>
              <a:t>Admin/Satici
</a:t>
            </a:r>
            <a:r>
              <a:rPr sz="1100">
                <a:solidFill>
                  <a:srgbClr val="2D3732"/>
                </a:solidFill>
                <a:latin typeface="Arial"/>
              </a:rPr>
              <a:t>Panel, denetim, finans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10058400"/>
            <a:ext cx="1339596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1352" y="10195560"/>
            <a:ext cx="13066776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215D48"/>
                </a:solidFill>
                <a:latin typeface="Arial"/>
              </a:rPr>
              <a:t>Kapsam ve Dogrulama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10588752"/>
            <a:ext cx="13066776" cy="43891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32C28"/>
                </a:solidFill>
                <a:latin typeface="Arial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10716768"/>
            <a:ext cx="502920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215D48"/>
                </a:solidFill>
                <a:latin typeface="Arial"/>
              </a:rPr>
              <a:t>Tamamlanan Alanlar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1292840"/>
            <a:ext cx="292608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D3732"/>
                </a:solidFill>
                <a:latin typeface="Arial"/>
              </a:rPr>
              <a:t>Backend 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41480" y="11347704"/>
            <a:ext cx="5303520" cy="201168"/>
          </a:xfrm>
          <a:prstGeom prst="rect">
            <a:avLst/>
          </a:prstGeom>
          <a:solidFill>
            <a:srgbClr val="E2E8E2"/>
          </a:solidFill>
          <a:ln>
            <a:solidFill>
              <a:srgbClr val="E2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41480" y="11347704"/>
            <a:ext cx="2121408" cy="20116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0" y="11274552"/>
            <a:ext cx="91440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1E503F"/>
                </a:solidFill>
                <a:latin typeface="Arial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11887200"/>
            <a:ext cx="292608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D3732"/>
                </a:solidFill>
                <a:latin typeface="Arial"/>
              </a:rPr>
              <a:t>Flutter widget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41480" y="11942064"/>
            <a:ext cx="5303520" cy="201168"/>
          </a:xfrm>
          <a:prstGeom prst="rect">
            <a:avLst/>
          </a:prstGeom>
          <a:solidFill>
            <a:srgbClr val="E2E8E2"/>
          </a:solidFill>
          <a:ln>
            <a:solidFill>
              <a:srgbClr val="E2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841480" y="11942064"/>
            <a:ext cx="636422" cy="20116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373600" y="11868912"/>
            <a:ext cx="91440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1E503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12481560"/>
            <a:ext cx="292608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D3732"/>
                </a:solidFill>
                <a:latin typeface="Arial"/>
              </a:rPr>
              <a:t>Diyagram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41480" y="12536424"/>
            <a:ext cx="5303520" cy="201168"/>
          </a:xfrm>
          <a:prstGeom prst="rect">
            <a:avLst/>
          </a:prstGeom>
          <a:solidFill>
            <a:srgbClr val="E2E8E2"/>
          </a:solidFill>
          <a:ln>
            <a:solidFill>
              <a:srgbClr val="E2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841480" y="12536424"/>
            <a:ext cx="5303520" cy="20116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373600" y="12463272"/>
            <a:ext cx="91440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1E503F"/>
                </a:solidFill>
                <a:latin typeface="Arial"/>
              </a:rPr>
              <a:t>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13075920"/>
            <a:ext cx="292608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D3732"/>
                </a:solidFill>
                <a:latin typeface="Arial"/>
              </a:rPr>
              <a:t>Grafik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841480" y="13130784"/>
            <a:ext cx="5303520" cy="201168"/>
          </a:xfrm>
          <a:prstGeom prst="rect">
            <a:avLst/>
          </a:prstGeom>
          <a:solidFill>
            <a:srgbClr val="E2E8E2"/>
          </a:solidFill>
          <a:ln>
            <a:solidFill>
              <a:srgbClr val="E2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841480" y="13130784"/>
            <a:ext cx="1060704" cy="20116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373600" y="13057632"/>
            <a:ext cx="91440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1E503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13670280"/>
            <a:ext cx="292608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D3732"/>
                </a:solidFill>
                <a:latin typeface="Arial"/>
              </a:rPr>
              <a:t>APK kurulum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841480" y="13725144"/>
            <a:ext cx="5303520" cy="201168"/>
          </a:xfrm>
          <a:prstGeom prst="rect">
            <a:avLst/>
          </a:prstGeom>
          <a:solidFill>
            <a:srgbClr val="E2E8E2"/>
          </a:solidFill>
          <a:ln>
            <a:solidFill>
              <a:srgbClr val="E2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841480" y="13725144"/>
            <a:ext cx="212140" cy="20116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373600" y="13651992"/>
            <a:ext cx="91440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1E503F"/>
                </a:solidFill>
                <a:latin typeface="Arial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13990320"/>
            <a:ext cx="12344400" cy="6400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28322D"/>
                </a:solidFill>
                <a:latin typeface="Arial"/>
              </a:rPr>
              <a:t>Son dogrulama: Backend Jest testleri, Flutter widget testleri, debug APK build ve fiziksel cihaza ADB kurulumu basarili.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311360" y="2788920"/>
            <a:ext cx="7132320" cy="3977639"/>
          </a:xfrm>
          <a:prstGeom prst="roundRect">
            <a:avLst/>
          </a:prstGeom>
          <a:solidFill>
            <a:srgbClr val="FFFCF6"/>
          </a:solidFill>
          <a:ln w="1524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475952" y="2926079"/>
            <a:ext cx="6803136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795120"/>
                </a:solidFill>
                <a:latin typeface="Arial"/>
              </a:rPr>
              <a:t>Son Gelistirmeler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475952" y="3319272"/>
            <a:ext cx="6803136" cy="329183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32C28"/>
                </a:solidFill>
                <a:latin typeface="Arial"/>
              </a:rPr>
              <a:t>Veteriner filtreleri, randevu yeniden planlama, gercek online gorusme linki, bakici avatar yukleme, bakici finansal ozet, calisma saati kontrolu ve duplicate yorum engeli tamamlandi.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311360" y="7178040"/>
            <a:ext cx="7132320" cy="3749039"/>
          </a:xfrm>
          <a:prstGeom prst="roundRect">
            <a:avLst/>
          </a:prstGeom>
          <a:solidFill>
            <a:srgbClr val="FFFCF6"/>
          </a:solidFill>
          <a:ln w="1524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475952" y="7315200"/>
            <a:ext cx="6803136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795120"/>
                </a:solidFill>
                <a:latin typeface="Arial"/>
              </a:rPr>
              <a:t>Proje Katkisi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475952" y="7708392"/>
            <a:ext cx="6803136" cy="306323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32C28"/>
                </a:solidFill>
                <a:latin typeface="Arial"/>
              </a:rPr>
              <a:t>Tekil evcil hayvan uygulamalarinin parcalı yapi sorununu azaltir. Kullanici, veteriner, bakici, satici ve yonetici rollerini ayni ekosistemde bulusturur.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311360" y="11338560"/>
            <a:ext cx="7132320" cy="3794760"/>
          </a:xfrm>
          <a:prstGeom prst="roundRect">
            <a:avLst/>
          </a:prstGeom>
          <a:solidFill>
            <a:srgbClr val="FFFCF6"/>
          </a:solidFill>
          <a:ln w="1524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475952" y="11475720"/>
            <a:ext cx="6803136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795120"/>
                </a:solidFill>
                <a:latin typeface="Arial"/>
              </a:rPr>
              <a:t>Gelecek Calismalar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475952" y="11868912"/>
            <a:ext cx="6803136" cy="31089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32C28"/>
                </a:solidFill>
                <a:latin typeface="Arial"/>
              </a:rPr>
              <a:t>Google Meet/Calendar OAuth entegrasyonu, odeme altyapisi, daha kapsamli saha testleri, raporlama paneli ve performans izleme sureclerinin genisletilmesi hedeflenmektedir.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19888200"/>
            <a:ext cx="30275784" cy="1499616"/>
          </a:xfrm>
          <a:prstGeom prst="rect">
            <a:avLst/>
          </a:prstGeom>
          <a:solidFill>
            <a:srgbClr val="EBF1ED"/>
          </a:solidFill>
          <a:ln>
            <a:solidFill>
              <a:srgbClr val="EB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20189952"/>
            <a:ext cx="28712160" cy="47548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1E503F"/>
                </a:solidFill>
                <a:latin typeface="Arial"/>
              </a:rPr>
              <a:t>Cikti paketleri: BITIRME_FINAL_MASTER.md | Bitirme_Final_Raporu.docx | BITIRME_FINAL_POSTER.md | Bitirme_Final_Posteri.pptx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